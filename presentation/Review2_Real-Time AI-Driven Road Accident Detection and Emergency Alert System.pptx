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  <p:sldId id="2147470501" r:id="rId11"/>
    <p:sldId id="214747050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Patel </a:t>
            </a:r>
            <a:r>
              <a:rPr lang="en-US" sz="2400" b="1" dirty="0" err="1">
                <a:solidFill>
                  <a:prstClr val="white"/>
                </a:solidFill>
                <a:cs typeface="Calibri" panose="020F0502020204030204" pitchFamily="34" charset="0"/>
              </a:rPr>
              <a:t>Vishrutkumar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 Dineshbhai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T-ID No: T8544</a:t>
            </a: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565890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583D1"/>
                </a:solidFill>
              </a:rPr>
              <a:t>Problem Statement: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Road accidents cause thousands of fatalities and injuries each year.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Delayed reporting and response increase the severity of outcomes.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Manual monitoring of CCTV is inefficient and prone to human error.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583D1"/>
                </a:solidFill>
              </a:rPr>
              <a:t>Solution Approach: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AI-driven system to automatically detect accidents in real-time.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Uses CCTV feeds for vehicle detection, accident recognition, and severity assessment.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Generates instant alerts for dashboards and emergency responders.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Scalable for different cities, camera types, and environments.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2520E36-803D-5571-DE6B-98BEC102B1E4}"/>
              </a:ext>
            </a:extLst>
          </p:cNvPr>
          <p:cNvSpPr txBox="1"/>
          <p:nvPr/>
        </p:nvSpPr>
        <p:spPr>
          <a:xfrm>
            <a:off x="4974771" y="57036"/>
            <a:ext cx="7217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5583D1"/>
                </a:solidFill>
              </a:rPr>
              <a:t>Detect road accidents in real-time using AI and Deep Learning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5583D1"/>
                </a:solidFill>
              </a:rPr>
              <a:t>Identify number of vehicles involved in the accident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5583D1"/>
                </a:solidFill>
              </a:rPr>
              <a:t>Assess severity level of the incident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5583D1"/>
                </a:solidFill>
              </a:rPr>
              <a:t>Send immediate alerts to monitoring dashboards &amp; emergency teams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5583D1"/>
                </a:solidFill>
              </a:rPr>
              <a:t>Reduce response time of ambulances and fire services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6EE88FD-DB7B-B2EA-3769-A42C238BD938}"/>
              </a:ext>
            </a:extLst>
          </p:cNvPr>
          <p:cNvSpPr txBox="1"/>
          <p:nvPr/>
        </p:nvSpPr>
        <p:spPr>
          <a:xfrm>
            <a:off x="4974771" y="57036"/>
            <a:ext cx="7217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Module 1 &amp; 2: Data Processing (Complete)</a:t>
            </a:r>
            <a:endParaRPr lang="en-US" sz="2400" b="0" dirty="0">
              <a:solidFill>
                <a:schemeClr val="accent5">
                  <a:lumMod val="75000"/>
                </a:schemeClr>
              </a:solidFill>
            </a:endParaRPr>
          </a:p>
          <a:p>
            <a:pPr lvl="1"/>
            <a:r>
              <a:rPr lang="en-US" dirty="0"/>
              <a:t>Processed 613 raw videos using </a:t>
            </a:r>
            <a:r>
              <a:rPr lang="en-US" b="1" dirty="0"/>
              <a:t>YOLOv8 + </a:t>
            </a:r>
            <a:r>
              <a:rPr lang="en-US" b="1" dirty="0" err="1"/>
              <a:t>ByteTrack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Generated frame-by-frame tracking data with consistent object IDs.</a:t>
            </a:r>
          </a:p>
          <a:p>
            <a:pPr lvl="1"/>
            <a:r>
              <a:rPr lang="en-US" dirty="0"/>
              <a:t>Manually labeled a ground truth dataset with precise </a:t>
            </a:r>
            <a:r>
              <a:rPr lang="en-US" b="1" dirty="0"/>
              <a:t>accident event windows</a:t>
            </a:r>
            <a:r>
              <a:rPr lang="en-US" dirty="0"/>
              <a:t> (start and end frames) and </a:t>
            </a:r>
            <a:r>
              <a:rPr lang="en-US" b="1" dirty="0"/>
              <a:t>severity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Module 3 &amp; 4: Model Training &amp; Severity Logic (Complete)</a:t>
            </a:r>
            <a:endParaRPr lang="en-US" sz="2400" b="0" dirty="0">
              <a:solidFill>
                <a:schemeClr val="accent5">
                  <a:lumMod val="75000"/>
                </a:schemeClr>
              </a:solidFill>
            </a:endParaRPr>
          </a:p>
          <a:p>
            <a:pPr lvl="1"/>
            <a:r>
              <a:rPr lang="en-US" dirty="0"/>
              <a:t>Prepared a </a:t>
            </a:r>
            <a:r>
              <a:rPr lang="en-US" b="1" dirty="0"/>
              <a:t>multimodal dataset</a:t>
            </a:r>
            <a:r>
              <a:rPr lang="en-US" dirty="0"/>
              <a:t> combining video clips with their corresponding physical features (velocity, overlap, etc.).</a:t>
            </a:r>
          </a:p>
          <a:p>
            <a:pPr lvl="1"/>
            <a:r>
              <a:rPr lang="en-US" dirty="0"/>
              <a:t>Successfully trained a </a:t>
            </a:r>
            <a:r>
              <a:rPr lang="en-US" b="1" dirty="0"/>
              <a:t>Multimodal Fusion Model</a:t>
            </a:r>
            <a:r>
              <a:rPr lang="en-US" dirty="0"/>
              <a:t> to detect crash events.</a:t>
            </a:r>
          </a:p>
          <a:p>
            <a:pPr lvl="1"/>
            <a:r>
              <a:rPr lang="en-US" dirty="0"/>
              <a:t>Developed a "Smart Filter" to precisely count </a:t>
            </a:r>
            <a:r>
              <a:rPr lang="en-US" b="1" dirty="0"/>
              <a:t>involved vehicles</a:t>
            </a:r>
            <a:r>
              <a:rPr lang="en-US" dirty="0"/>
              <a:t> based on chaotic motion.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Progress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46DBE2E-22F3-B489-5A04-F2FBBE327260}"/>
              </a:ext>
            </a:extLst>
          </p:cNvPr>
          <p:cNvSpPr txBox="1"/>
          <p:nvPr/>
        </p:nvSpPr>
        <p:spPr>
          <a:xfrm>
            <a:off x="4974771" y="57036"/>
            <a:ext cx="7217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US" sz="2400" dirty="0"/>
              <a:t>Multimodal Fusion Approach → </a:t>
            </a:r>
            <a:r>
              <a:rPr lang="en-US" sz="2400" b="0" dirty="0"/>
              <a:t>combines visual + motion features</a:t>
            </a:r>
          </a:p>
          <a:p>
            <a:r>
              <a:rPr lang="en-US" sz="2400" dirty="0"/>
              <a:t>Vision Branch (CNN – MobileNetV2) → </a:t>
            </a:r>
            <a:r>
              <a:rPr lang="en-US" sz="2400" b="0" dirty="0"/>
              <a:t>learns crash visuals (collision, smoke, damage)</a:t>
            </a:r>
          </a:p>
          <a:p>
            <a:r>
              <a:rPr lang="en-US" sz="2400" dirty="0"/>
              <a:t>Time-Series Branch (GRU) → </a:t>
            </a:r>
            <a:r>
              <a:rPr lang="en-US" sz="2400" b="0" dirty="0"/>
              <a:t>captures crash dynamics (sudden speed drop, overlap)</a:t>
            </a:r>
          </a:p>
          <a:p>
            <a:r>
              <a:rPr lang="en-US" sz="2400" dirty="0"/>
              <a:t>Fusion Layer → </a:t>
            </a:r>
            <a:r>
              <a:rPr lang="en-US" sz="2400" b="0" dirty="0"/>
              <a:t>merges spatial + temporal insights for final decision</a:t>
            </a:r>
          </a:p>
          <a:p>
            <a:r>
              <a:rPr lang="en-US" sz="2400" dirty="0"/>
              <a:t>Outcome → </a:t>
            </a:r>
            <a:r>
              <a:rPr lang="en-US" sz="2400" b="0" dirty="0"/>
              <a:t>robust, accurate detection under varied traffic &amp; conditions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974771" y="57036"/>
            <a:ext cx="7217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algn="r"/>
            <a:endParaRPr lang="en-US" dirty="0"/>
          </a:p>
        </p:txBody>
      </p:sp>
      <p:pic>
        <p:nvPicPr>
          <p:cNvPr id="11" name="Picture 10" descr="A diagram of a process&#10;&#10;AI-generated content may be incorrect.">
            <a:extLst>
              <a:ext uri="{FF2B5EF4-FFF2-40B4-BE49-F238E27FC236}">
                <a16:creationId xmlns:a16="http://schemas.microsoft.com/office/drawing/2014/main" id="{353CDD3F-F97D-F95E-69CF-F6831DBE9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471" y="4247683"/>
            <a:ext cx="7805057" cy="210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Automated Processing</a:t>
            </a:r>
          </a:p>
          <a:p>
            <a:pPr lvl="1"/>
            <a:r>
              <a:rPr lang="en-US" dirty="0"/>
              <a:t>YOLOv8 → object detection.</a:t>
            </a:r>
          </a:p>
          <a:p>
            <a:pPr lvl="1"/>
            <a:r>
              <a:rPr lang="en-US" dirty="0" err="1"/>
              <a:t>ByteTrack</a:t>
            </a:r>
            <a:r>
              <a:rPr lang="en-US" dirty="0"/>
              <a:t> → tracking IDs.</a:t>
            </a:r>
          </a:p>
          <a:p>
            <a:pPr lvl="1"/>
            <a:r>
              <a:rPr lang="en-US" dirty="0"/>
              <a:t>Features: velocity, deceleration, </a:t>
            </a:r>
            <a:r>
              <a:rPr lang="en-US" dirty="0" err="1"/>
              <a:t>IoU</a:t>
            </a:r>
            <a:r>
              <a:rPr lang="en-US" dirty="0"/>
              <a:t>.</a:t>
            </a:r>
          </a:p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Manual Ground Truth</a:t>
            </a:r>
          </a:p>
          <a:p>
            <a:pPr lvl="1"/>
            <a:r>
              <a:rPr lang="en-US" dirty="0"/>
              <a:t>Accident event windows (start/end).</a:t>
            </a:r>
          </a:p>
          <a:p>
            <a:pPr lvl="1"/>
            <a:r>
              <a:rPr lang="en-US" dirty="0"/>
              <a:t>Assigned severity labels (Low/Med/High).</a:t>
            </a:r>
          </a:p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libri (Body)"/>
              </a:rPr>
              <a:t>Final Dataset</a:t>
            </a:r>
          </a:p>
          <a:p>
            <a:pPr lvl="1"/>
            <a:r>
              <a:rPr lang="en-US" dirty="0"/>
              <a:t>Visual Clips: 32 frames.</a:t>
            </a:r>
          </a:p>
          <a:p>
            <a:pPr lvl="1"/>
            <a:r>
              <a:rPr lang="en-US" dirty="0"/>
              <a:t>Feature Data: velocity, </a:t>
            </a:r>
            <a:r>
              <a:rPr lang="en-US" dirty="0" err="1"/>
              <a:t>IoU</a:t>
            </a:r>
            <a:r>
              <a:rPr lang="en-US" dirty="0"/>
              <a:t>, deceleration.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5761487-4291-0999-42B7-6D12E0B44E23}"/>
              </a:ext>
            </a:extLst>
          </p:cNvPr>
          <p:cNvSpPr txBox="1"/>
          <p:nvPr/>
        </p:nvSpPr>
        <p:spPr>
          <a:xfrm>
            <a:off x="4974771" y="57036"/>
            <a:ext cx="7217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Approach</a:t>
            </a:r>
          </a:p>
          <a:p>
            <a:pPr lvl="1"/>
            <a:r>
              <a:rPr lang="en-US" dirty="0"/>
              <a:t>Real-time CCTV monitoring with sliding window detection</a:t>
            </a:r>
          </a:p>
          <a:p>
            <a:pPr lvl="1"/>
            <a:r>
              <a:rPr lang="en-US" dirty="0"/>
              <a:t>Multimodal analysis (visual + motion features)</a:t>
            </a:r>
          </a:p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Algorithms</a:t>
            </a:r>
          </a:p>
          <a:p>
            <a:pPr lvl="1"/>
            <a:r>
              <a:rPr lang="en-US" dirty="0"/>
              <a:t>YOLOv8 – Object Detection</a:t>
            </a:r>
          </a:p>
          <a:p>
            <a:pPr lvl="1"/>
            <a:r>
              <a:rPr lang="en-US" dirty="0" err="1"/>
              <a:t>ByteTrack</a:t>
            </a:r>
            <a:r>
              <a:rPr lang="en-US" dirty="0"/>
              <a:t> – Object Tracking</a:t>
            </a:r>
          </a:p>
          <a:p>
            <a:pPr lvl="1"/>
            <a:r>
              <a:rPr lang="en-US" dirty="0"/>
              <a:t>CNN (MobileNetV2) – Visual Features</a:t>
            </a:r>
          </a:p>
          <a:p>
            <a:pPr lvl="1"/>
            <a:r>
              <a:rPr lang="en-US" dirty="0"/>
              <a:t>GRU – Temporal Dynamics</a:t>
            </a:r>
          </a:p>
          <a:p>
            <a:pPr lvl="1"/>
            <a:r>
              <a:rPr lang="en-US" dirty="0"/>
              <a:t>Fusion Classifier – Crash Decision</a:t>
            </a:r>
          </a:p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Tools</a:t>
            </a:r>
          </a:p>
          <a:p>
            <a:pPr lvl="1"/>
            <a:r>
              <a:rPr lang="en-US" dirty="0"/>
              <a:t>Python, </a:t>
            </a:r>
            <a:r>
              <a:rPr lang="en-US" dirty="0" err="1"/>
              <a:t>PyTorch</a:t>
            </a:r>
            <a:endParaRPr lang="en-US" dirty="0"/>
          </a:p>
          <a:p>
            <a:pPr lvl="1"/>
            <a:r>
              <a:rPr lang="en-US" dirty="0"/>
              <a:t>OpenCV, Matplotlib</a:t>
            </a:r>
          </a:p>
          <a:p>
            <a:pPr lvl="1"/>
            <a:r>
              <a:rPr lang="en-US" dirty="0"/>
              <a:t>Custom annotation scripts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9AC25E6-6DC7-BE8A-DF58-5532687CCE8E}"/>
              </a:ext>
            </a:extLst>
          </p:cNvPr>
          <p:cNvSpPr txBox="1"/>
          <p:nvPr/>
        </p:nvSpPr>
        <p:spPr>
          <a:xfrm>
            <a:off x="4974771" y="57036"/>
            <a:ext cx="7217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522348" cy="4142989"/>
          </a:xfrm>
        </p:spPr>
        <p:txBody>
          <a:bodyPr/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Completed Milestones:</a:t>
            </a:r>
            <a:endParaRPr lang="en-US" sz="2400" b="0" dirty="0">
              <a:solidFill>
                <a:schemeClr val="accent5">
                  <a:lumMod val="75000"/>
                </a:schemeClr>
              </a:solidFill>
            </a:endParaRPr>
          </a:p>
          <a:p>
            <a:pPr lvl="1"/>
            <a:r>
              <a:rPr lang="en-US" dirty="0"/>
              <a:t>✅ End-to-end data processing pipeline established.</a:t>
            </a:r>
          </a:p>
          <a:p>
            <a:pPr lvl="1"/>
            <a:r>
              <a:rPr lang="en-US" dirty="0"/>
              <a:t>✅ Manual ground truth dataset created.</a:t>
            </a:r>
          </a:p>
          <a:p>
            <a:pPr lvl="1"/>
            <a:r>
              <a:rPr lang="en-US" dirty="0"/>
              <a:t>✅ State-of-the-art </a:t>
            </a:r>
            <a:r>
              <a:rPr lang="en-US" b="1" dirty="0"/>
              <a:t>Multimodal Fusion Model</a:t>
            </a:r>
            <a:r>
              <a:rPr lang="en-US" dirty="0"/>
              <a:t> successfully trained.</a:t>
            </a:r>
          </a:p>
          <a:p>
            <a:pPr lvl="1"/>
            <a:r>
              <a:rPr lang="en-US" dirty="0"/>
              <a:t>✅ Real-time </a:t>
            </a:r>
            <a:r>
              <a:rPr lang="en-US" b="1" dirty="0"/>
              <a:t>Smart Filter</a:t>
            </a:r>
            <a:r>
              <a:rPr lang="en-US" dirty="0"/>
              <a:t> for identifying involved vehicles implemented.</a:t>
            </a:r>
          </a:p>
          <a:p>
            <a:pPr lvl="1"/>
            <a:r>
              <a:rPr lang="en-US" dirty="0"/>
              <a:t>✅ Proof-of-concept </a:t>
            </a:r>
            <a:r>
              <a:rPr lang="en-US" b="1" dirty="0"/>
              <a:t>Live Analyzer</a:t>
            </a:r>
            <a:r>
              <a:rPr lang="en-US" dirty="0"/>
              <a:t> script developed.</a:t>
            </a:r>
          </a:p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Next Steps:</a:t>
            </a:r>
            <a:endParaRPr lang="en-US" sz="2400" b="0" dirty="0">
              <a:solidFill>
                <a:schemeClr val="accent5">
                  <a:lumMod val="75000"/>
                </a:schemeClr>
              </a:solidFill>
            </a:endParaRPr>
          </a:p>
          <a:p>
            <a:pPr lvl="1"/>
            <a:r>
              <a:rPr lang="en-US" b="1" dirty="0"/>
              <a:t>Model Optimization:</a:t>
            </a:r>
            <a:r>
              <a:rPr lang="en-US" dirty="0"/>
              <a:t> Experiment with fine-tuning the trained model and different hyperparameters to further improve accuracy.</a:t>
            </a:r>
          </a:p>
          <a:p>
            <a:pPr lvl="1"/>
            <a:r>
              <a:rPr lang="en-US" b="1" dirty="0"/>
              <a:t>API Integration:</a:t>
            </a:r>
            <a:r>
              <a:rPr lang="en-US" dirty="0"/>
              <a:t> Develop a robust API endpoint to send the structured alert data to an external dashboard or emergency service system.</a:t>
            </a:r>
          </a:p>
          <a:p>
            <a:pPr lvl="1"/>
            <a:r>
              <a:rPr lang="en-US" b="1" dirty="0"/>
              <a:t>Scalability Testing:</a:t>
            </a:r>
            <a:r>
              <a:rPr lang="en-US" dirty="0"/>
              <a:t> Test the pipeline's performance on multiple simultaneous video streams to ensure real-world viability.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EEBFB18-77D1-3F23-AC16-FA2BD03AC57E}"/>
              </a:ext>
            </a:extLst>
          </p:cNvPr>
          <p:cNvSpPr txBox="1"/>
          <p:nvPr/>
        </p:nvSpPr>
        <p:spPr>
          <a:xfrm>
            <a:off x="4974771" y="57036"/>
            <a:ext cx="7217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0E45ED7-23F8-5762-7B98-65D94955C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065" y="1290375"/>
            <a:ext cx="7686049" cy="51240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9268E1A-40C2-F725-19C4-5CD8B6ADBA26}"/>
              </a:ext>
            </a:extLst>
          </p:cNvPr>
          <p:cNvSpPr txBox="1"/>
          <p:nvPr/>
        </p:nvSpPr>
        <p:spPr>
          <a:xfrm>
            <a:off x="4974771" y="57036"/>
            <a:ext cx="7217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3D108-D93C-A8AF-D0DC-6247029B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3E37D9-3995-ACB2-AB9F-7D2A348CCEE3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Accident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Detection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Output –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Demo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Clip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FFDB3E8-5CC6-B144-F290-FD8F95EC1B0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46A4D01-2656-C7CC-16F8-1BC8D07AE7D4}"/>
              </a:ext>
            </a:extLst>
          </p:cNvPr>
          <p:cNvSpPr txBox="1"/>
          <p:nvPr/>
        </p:nvSpPr>
        <p:spPr>
          <a:xfrm>
            <a:off x="4974771" y="57036"/>
            <a:ext cx="7217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algn="r"/>
            <a:endParaRPr lang="en-US" dirty="0"/>
          </a:p>
        </p:txBody>
      </p:sp>
      <p:pic>
        <p:nvPicPr>
          <p:cNvPr id="7" name="final_analysis_output_pytorch">
            <a:hlinkClick r:id="" action="ppaction://media"/>
            <a:extLst>
              <a:ext uri="{FF2B5EF4-FFF2-40B4-BE49-F238E27FC236}">
                <a16:creationId xmlns:a16="http://schemas.microsoft.com/office/drawing/2014/main" id="{086EB887-81E9-798C-7EE1-F95BB65E975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14727" y="1341693"/>
            <a:ext cx="8762546" cy="492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134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3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3D108-D93C-A8AF-D0DC-6247029B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46A4D01-2656-C7CC-16F8-1BC8D07AE7D4}"/>
              </a:ext>
            </a:extLst>
          </p:cNvPr>
          <p:cNvSpPr txBox="1"/>
          <p:nvPr/>
        </p:nvSpPr>
        <p:spPr>
          <a:xfrm>
            <a:off x="4974771" y="57036"/>
            <a:ext cx="7217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algn="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533813-95ED-7E36-384D-D71F817FCEF1}"/>
              </a:ext>
            </a:extLst>
          </p:cNvPr>
          <p:cNvSpPr txBox="1"/>
          <p:nvPr/>
        </p:nvSpPr>
        <p:spPr>
          <a:xfrm>
            <a:off x="3107871" y="2516909"/>
            <a:ext cx="59762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fr-FR" sz="8800" b="1" dirty="0" err="1">
                <a:solidFill>
                  <a:srgbClr val="5B9BD5">
                    <a:lumMod val="50000"/>
                  </a:srgbClr>
                </a:solidFill>
              </a:rPr>
              <a:t>Thank</a:t>
            </a:r>
            <a:r>
              <a:rPr lang="fr-FR" sz="8800" b="1" dirty="0">
                <a:solidFill>
                  <a:srgbClr val="5B9BD5">
                    <a:lumMod val="50000"/>
                  </a:srgbClr>
                </a:solidFill>
              </a:rPr>
              <a:t> You!</a:t>
            </a:r>
            <a:endParaRPr kumimoji="0" lang="en-US" sz="88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718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673</Words>
  <Application>Microsoft Office PowerPoint</Application>
  <PresentationFormat>Widescreen</PresentationFormat>
  <Paragraphs>95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Patelvishrutku Dineshbhai</cp:lastModifiedBy>
  <cp:revision>13</cp:revision>
  <dcterms:created xsi:type="dcterms:W3CDTF">2024-05-13T10:33:11Z</dcterms:created>
  <dcterms:modified xsi:type="dcterms:W3CDTF">2025-10-15T05:17:03Z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