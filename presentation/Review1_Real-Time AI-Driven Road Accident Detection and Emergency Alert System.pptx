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0489" r:id="rId2"/>
    <p:sldId id="2147470492" r:id="rId3"/>
    <p:sldId id="2147470493" r:id="rId4"/>
    <p:sldId id="2147470494" r:id="rId5"/>
    <p:sldId id="2147470495" r:id="rId6"/>
    <p:sldId id="2147470496" r:id="rId7"/>
    <p:sldId id="2147470498" r:id="rId8"/>
    <p:sldId id="2147470497" r:id="rId9"/>
    <p:sldId id="2147470491" r:id="rId10"/>
    <p:sldId id="2147470487" r:id="rId11"/>
    <p:sldId id="214747049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600" y="-1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microsoft.com/office/2007/relationships/hdphoto" Target="../media/hdphoto3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dpi.com/1424-8220/25/11/3259" TargetMode="External"/><Relationship Id="rId2" Type="http://schemas.openxmlformats.org/officeDocument/2006/relationships/hyperlink" Target="https://www.researchgate.net/publication/331103559_CADP_A_Novel_Dataset_for_CCTV_Traffic_Camera_based_Accident_Analysis" TargetMode="External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arxiv.org/abs/1911.10037" TargetMode="External"/><Relationship Id="rId4" Type="http://schemas.openxmlformats.org/officeDocument/2006/relationships/hyperlink" Target="https://arxiv.org/abs/2407.17757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Real-Time AI-Driven Road Accident Detection and Emergency Alert System</a:t>
            </a: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Patel </a:t>
            </a:r>
            <a:r>
              <a:rPr lang="en-US" sz="2400" b="1" dirty="0" err="1">
                <a:solidFill>
                  <a:prstClr val="white"/>
                </a:solidFill>
                <a:cs typeface="Calibri" panose="020F0502020204030204" pitchFamily="34" charset="0"/>
              </a:rPr>
              <a:t>Vishrutkumar</a:t>
            </a: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 </a:t>
            </a:r>
            <a:r>
              <a:rPr lang="en-US" sz="2400" b="1" dirty="0" err="1">
                <a:solidFill>
                  <a:prstClr val="white"/>
                </a:solidFill>
                <a:cs typeface="Calibri" panose="020F0502020204030204" pitchFamily="34" charset="0"/>
              </a:rPr>
              <a:t>Dineshbhai</a:t>
            </a:r>
            <a:endParaRPr lang="en-US" sz="24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T-ID No: T8544</a:t>
            </a:r>
          </a:p>
          <a:p>
            <a:pPr lvl="0" algn="ctr">
              <a:defRPr/>
            </a:pP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2" descr="LTIMindtree - Technology Consulting and Digital Solutions Company">
            <a:extLst>
              <a:ext uri="{FF2B5EF4-FFF2-40B4-BE49-F238E27FC236}">
                <a16:creationId xmlns:a16="http://schemas.microsoft.com/office/drawing/2014/main" id="{B3D78849-E5F7-1DB2-227F-142445861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52667"/>
            <a:ext cx="3886489" cy="86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5" y="1271219"/>
            <a:ext cx="11613787" cy="414298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Problem Statement:</a:t>
            </a:r>
          </a:p>
          <a:p>
            <a:pPr>
              <a:lnSpc>
                <a:spcPct val="100000"/>
              </a:lnSpc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Road accidents cause thousands of fatalities and injuries each year.</a:t>
            </a:r>
          </a:p>
          <a:p>
            <a:pPr>
              <a:lnSpc>
                <a:spcPct val="100000"/>
              </a:lnSpc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Delayed reporting and response increase the severity of outcomes.</a:t>
            </a:r>
          </a:p>
          <a:p>
            <a:pPr>
              <a:lnSpc>
                <a:spcPct val="100000"/>
              </a:lnSpc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Manual monitoring of CCTV is inefficient and prone to human error.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Solution Approach:</a:t>
            </a:r>
          </a:p>
          <a:p>
            <a:pPr>
              <a:lnSpc>
                <a:spcPct val="100000"/>
              </a:lnSpc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AI-driven system to automatically detect accidents in real-time.</a:t>
            </a:r>
          </a:p>
          <a:p>
            <a:pPr>
              <a:lnSpc>
                <a:spcPct val="100000"/>
              </a:lnSpc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Uses CCTV feeds for vehicle detection, accident recognition, and severity assessment.</a:t>
            </a:r>
          </a:p>
          <a:p>
            <a:pPr>
              <a:lnSpc>
                <a:spcPct val="100000"/>
              </a:lnSpc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Generates instant alerts for dashboards and emergency responders.</a:t>
            </a:r>
          </a:p>
          <a:p>
            <a:pPr>
              <a:lnSpc>
                <a:spcPct val="100000"/>
              </a:lnSpc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Scalable for different cities, camera types, and environments.</a:t>
            </a: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4929353" y="57036"/>
            <a:ext cx="72626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Real-Time AI-Driven Road Accident Detection and Emergency Alert System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Detect road accidents in real-time using AI and Deep Learning</a:t>
            </a:r>
          </a:p>
          <a:p>
            <a:pPr>
              <a:lnSpc>
                <a:spcPct val="150000"/>
              </a:lnSpc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Identify number of vehicles involved in the accident</a:t>
            </a:r>
          </a:p>
          <a:p>
            <a:pPr>
              <a:lnSpc>
                <a:spcPct val="150000"/>
              </a:lnSpc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Assess severity level of the incident</a:t>
            </a:r>
          </a:p>
          <a:p>
            <a:pPr>
              <a:lnSpc>
                <a:spcPct val="150000"/>
              </a:lnSpc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Send immediate alerts to monitoring dashboards &amp; emergency teams</a:t>
            </a:r>
          </a:p>
          <a:p>
            <a:pPr>
              <a:lnSpc>
                <a:spcPct val="150000"/>
              </a:lnSpc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Reduce response time of ambulances and fire services</a:t>
            </a: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F0D171A-2909-1238-CAFA-3191F39C3DD8}"/>
              </a:ext>
            </a:extLst>
          </p:cNvPr>
          <p:cNvSpPr txBox="1"/>
          <p:nvPr/>
        </p:nvSpPr>
        <p:spPr>
          <a:xfrm>
            <a:off x="4929353" y="57036"/>
            <a:ext cx="72626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Real-Time AI-Driven Road Accident Detection and Emergency Alert System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Applicable in urban smart city traffic systems</a:t>
            </a:r>
          </a:p>
          <a:p>
            <a:pPr>
              <a:lnSpc>
                <a:spcPct val="150000"/>
              </a:lnSpc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Works with existing CCTV infrastructure</a:t>
            </a:r>
          </a:p>
          <a:p>
            <a:pPr>
              <a:lnSpc>
                <a:spcPct val="150000"/>
              </a:lnSpc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Scalable for different cities and traffic conditions</a:t>
            </a:r>
          </a:p>
          <a:p>
            <a:pPr>
              <a:lnSpc>
                <a:spcPct val="150000"/>
              </a:lnSpc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Supports integration with emergency services (ambulance, fire, police)</a:t>
            </a:r>
          </a:p>
          <a:p>
            <a:pPr>
              <a:lnSpc>
                <a:spcPct val="150000"/>
              </a:lnSpc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Future expansion: integration with IoT devices and smart vehicles</a:t>
            </a: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Scope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4624251" y="57036"/>
            <a:ext cx="75677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Real-Time AI-Driven Road Accident Detection and Emergency Alert System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69C03-8E92-54D7-6EE2-33DC2B5C6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B433ECB-8EAD-0AB5-1D66-62BCF658AA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5" y="1271219"/>
            <a:ext cx="11291571" cy="4142989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  <a:hlinkClick r:id="rId2"/>
              </a:rPr>
              <a:t>[1] A. P. Shah, J.-B. Lamare, T. Nguyen-Anh, and A. Hauptmann, “CADP: A Novel Dataset for CCTV Traffic Camera based Accident Analysis,” in Proc. IEEE Int. Workshop on Advanced Video and Signal Based Surveillance (AVSS), 2018, pp. 1–9, doi:10.1109/AVSS.2018.8639160</a:t>
            </a:r>
            <a:endParaRPr lang="en-US" sz="2400" b="0" dirty="0">
              <a:solidFill>
                <a:srgbClr val="5583D1"/>
              </a:solidFill>
              <a:latin typeface="+mn-lt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  <a:hlinkClick r:id="rId3"/>
              </a:rPr>
              <a:t>[2] P. Pradeep Kumar and K. Kant, “TU-DAT: A Computer Vision Dataset on Road Traffic Anomalies,” Sensors, vol. 25, no. 11, Art. 3259, 2025, doi:10.3390/s25113259 </a:t>
            </a:r>
            <a:endParaRPr lang="en-US" sz="2400" b="0" dirty="0">
              <a:solidFill>
                <a:srgbClr val="5583D1"/>
              </a:solidFill>
              <a:latin typeface="+mn-lt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  <a:hlinkClick r:id="rId4"/>
              </a:rPr>
              <a:t>[3] H. Liao et al., “CRASH: Crash Recognition and Anticipation System Harnessing with Context-Aware and Temporal Focus Attentions,” in Proc. ACM Int. Conf. on Multimedia (MM), 2024, doi:10.1145/3664647.3680672 </a:t>
            </a:r>
            <a:endParaRPr lang="en-US" sz="2400" b="0" dirty="0">
              <a:solidFill>
                <a:srgbClr val="5583D1"/>
              </a:solidFill>
              <a:latin typeface="+mn-lt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  <a:hlinkClick r:id="rId5"/>
              </a:rPr>
              <a:t>[4] E. P. Ijjina, D. Chand, S. Gupta, and G. K., “Computer Vision-based Accident Detection in Traffic Surveillance,” </a:t>
            </a:r>
            <a:r>
              <a:rPr lang="en-US" sz="2400" b="0" dirty="0" err="1">
                <a:solidFill>
                  <a:srgbClr val="5583D1"/>
                </a:solidFill>
                <a:latin typeface="+mn-lt"/>
                <a:hlinkClick r:id="rId5"/>
              </a:rPr>
              <a:t>arXiv</a:t>
            </a:r>
            <a:r>
              <a:rPr lang="en-US" sz="2400" b="0" dirty="0">
                <a:solidFill>
                  <a:srgbClr val="5583D1"/>
                </a:solidFill>
                <a:latin typeface="+mn-lt"/>
                <a:hlinkClick r:id="rId5"/>
              </a:rPr>
              <a:t> preprint arXiv:1911.10037, Nov. 2019.</a:t>
            </a: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B3663C-4C71-EB2A-170D-22878BAC4C6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Literature Review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91B76A7-3EE1-470C-EBA7-8F98E8FFE105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77C28B5-DC48-4385-CA9A-A6A930491E61}"/>
              </a:ext>
            </a:extLst>
          </p:cNvPr>
          <p:cNvSpPr txBox="1"/>
          <p:nvPr/>
        </p:nvSpPr>
        <p:spPr>
          <a:xfrm>
            <a:off x="4929353" y="57036"/>
            <a:ext cx="72626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Real-Time AI-Driven Road Accident Detection and Emergency Alert System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0765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53C69-472F-A80F-ECBC-553E043DB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364AF3A-1BAA-BB19-865F-8604C4E3B8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457200" indent="-457200">
              <a:lnSpc>
                <a:spcPct val="100000"/>
              </a:lnSpc>
              <a:buAutoNum type="arabicPeriod"/>
              <a:tabLst>
                <a:tab pos="273050" algn="l"/>
              </a:tabLst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CADP: A Novel Dataset for CCTV Traffic Camera Based Accident Analysis (2018)</a:t>
            </a:r>
          </a:p>
          <a:p>
            <a:pPr indent="128588">
              <a:lnSpc>
                <a:spcPct val="100000"/>
              </a:lnSpc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 CCTV accident dataset (1,416 videos, 205 HD annotated).</a:t>
            </a:r>
          </a:p>
          <a:p>
            <a:pPr indent="128588">
              <a:lnSpc>
                <a:spcPct val="100000"/>
              </a:lnSpc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 Used CM/ACM + Faster R-CNN → better small-object detection.</a:t>
            </a:r>
          </a:p>
          <a:p>
            <a:pPr indent="128588">
              <a:lnSpc>
                <a:spcPct val="100000"/>
              </a:lnSpc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 Accident-LSTM → forecast ~1.68s before crash, AP ~47%.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2. TU-DAT: : A Computer Vision Dataset on Road Traffic Anomalies (2025)</a:t>
            </a:r>
          </a:p>
          <a:p>
            <a:pPr indent="128588">
              <a:lnSpc>
                <a:spcPct val="100000"/>
              </a:lnSpc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 Dataset: ~210 CCTV + synthetic videos, richly annotated.</a:t>
            </a:r>
          </a:p>
          <a:p>
            <a:pPr indent="128588">
              <a:lnSpc>
                <a:spcPct val="100000"/>
              </a:lnSpc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 Includes trajectories, severity, road conditions.</a:t>
            </a:r>
          </a:p>
          <a:p>
            <a:pPr indent="128588">
              <a:lnSpc>
                <a:spcPct val="100000"/>
              </a:lnSpc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 Supports ML + logic-based anomaly detection.</a:t>
            </a:r>
          </a:p>
          <a:p>
            <a:pPr marL="457200" indent="-457200">
              <a:lnSpc>
                <a:spcPct val="100000"/>
              </a:lnSpc>
              <a:buAutoNum type="arabicPeriod"/>
            </a:pP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C2521A-B8A4-7818-FEB4-0309182DBEC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Summary of Literature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6871527-EAED-D60A-DB4D-12A2CE4201DE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7EE10C2-227C-6440-F7FC-AA789BD7E37B}"/>
              </a:ext>
            </a:extLst>
          </p:cNvPr>
          <p:cNvSpPr txBox="1"/>
          <p:nvPr/>
        </p:nvSpPr>
        <p:spPr>
          <a:xfrm>
            <a:off x="4929353" y="57036"/>
            <a:ext cx="72626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Real-Time AI-Driven Road Accident Detection and Emergency Alert System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4703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FA63D-88C1-B9ED-5427-023F11CDA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D2CAFD5-83FF-C8FC-2770-03E7E55C96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3. CRASH : Crash Recognition and Anticipation System (2024)</a:t>
            </a:r>
          </a:p>
          <a:p>
            <a:pPr marL="273050" indent="179388">
              <a:lnSpc>
                <a:spcPct val="100000"/>
              </a:lnSpc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Framework with object-aware + context-aware attention.</a:t>
            </a:r>
          </a:p>
          <a:p>
            <a:pPr marL="273050" indent="179388">
              <a:lnSpc>
                <a:spcPct val="100000"/>
              </a:lnSpc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Uses FFT-based temporal context modeling.</a:t>
            </a:r>
          </a:p>
          <a:p>
            <a:pPr marL="273050" indent="179388">
              <a:lnSpc>
                <a:spcPct val="100000"/>
              </a:lnSpc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Outperforms baselines on DAD, CCD, A3D datasets.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4. Computer Vision-based Accident Detection in Traffic Surveillance (2019)</a:t>
            </a:r>
          </a:p>
          <a:p>
            <a:pPr indent="128588">
              <a:lnSpc>
                <a:spcPct val="100000"/>
              </a:lnSpc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 Mask R-CNN + tracking for accident detection.</a:t>
            </a:r>
          </a:p>
          <a:p>
            <a:pPr indent="128588">
              <a:lnSpc>
                <a:spcPct val="100000"/>
              </a:lnSpc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 Detects anomalies in speed &amp; trajectory.</a:t>
            </a:r>
          </a:p>
          <a:p>
            <a:pPr indent="128588">
              <a:lnSpc>
                <a:spcPct val="100000"/>
              </a:lnSpc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 Works robustly in varied weather/lighting.</a:t>
            </a:r>
            <a:endParaRPr lang="en-US" sz="2400" b="0" dirty="0">
              <a:solidFill>
                <a:srgbClr val="5583D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4588D3-E540-CB09-DD1D-E40527EBCDF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Summary of Literature…. Calibri body -36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AC8A59F-4707-9B69-03F3-E73AE710B57C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8099181-B621-9EE1-AA3A-4D458BACF199}"/>
              </a:ext>
            </a:extLst>
          </p:cNvPr>
          <p:cNvSpPr txBox="1"/>
          <p:nvPr/>
        </p:nvSpPr>
        <p:spPr>
          <a:xfrm>
            <a:off x="4929353" y="57036"/>
            <a:ext cx="72626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Real-Time AI-Driven Road Accident Detection and Emergency Alert System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41975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Severity Assessment</a:t>
            </a:r>
          </a:p>
          <a:p>
            <a:pPr>
              <a:lnSpc>
                <a:spcPct val="150000"/>
              </a:lnSpc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Lack of Multi-Vehicle Detection</a:t>
            </a:r>
          </a:p>
          <a:p>
            <a:pPr>
              <a:lnSpc>
                <a:spcPct val="150000"/>
              </a:lnSpc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Underused Contextual Data: Environmental context (pedestrians, weather, road type, background activity) </a:t>
            </a:r>
          </a:p>
          <a:p>
            <a:pPr>
              <a:lnSpc>
                <a:spcPct val="150000"/>
              </a:lnSpc>
            </a:pPr>
            <a:r>
              <a:rPr lang="en-US" sz="2400" b="0" dirty="0">
                <a:solidFill>
                  <a:srgbClr val="5583D1"/>
                </a:solidFill>
                <a:latin typeface="+mn-lt"/>
              </a:rPr>
              <a:t>No End-to-End Alerting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Research Gaps: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A4512A3-FD12-94DC-FC53-339C36ABBDDD}"/>
              </a:ext>
            </a:extLst>
          </p:cNvPr>
          <p:cNvSpPr txBox="1"/>
          <p:nvPr/>
        </p:nvSpPr>
        <p:spPr>
          <a:xfrm>
            <a:off x="4929353" y="57036"/>
            <a:ext cx="72626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Real-Time AI-Driven Road Accident Detection and Emergency Alert System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/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rgbClr val="5583D1"/>
                </a:solidFill>
                <a:latin typeface="+mn-lt"/>
              </a:rPr>
              <a:t>Module 1: Data Collection &amp; Preprocessing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rgbClr val="5583D1"/>
                </a:solidFill>
                <a:latin typeface="+mn-lt"/>
              </a:rPr>
              <a:t>Module 2: Vehicle Detection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rgbClr val="5583D1"/>
                </a:solidFill>
                <a:latin typeface="+mn-lt"/>
              </a:rPr>
              <a:t>Module 3: Accident Recognition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rgbClr val="5583D1"/>
                </a:solidFill>
                <a:latin typeface="+mn-lt"/>
              </a:rPr>
              <a:t>Module 4: Severity Estimation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rgbClr val="5583D1"/>
                </a:solidFill>
                <a:latin typeface="+mn-lt"/>
              </a:rPr>
              <a:t>Module 5: Real-Time Alerting System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solidFill>
                  <a:srgbClr val="5583D1"/>
                </a:solidFill>
                <a:latin typeface="+mn-lt"/>
              </a:rPr>
              <a:t>Module 6: Central Dashboard &amp; Reporting</a:t>
            </a:r>
            <a:r>
              <a:rPr lang="en-US" dirty="0">
                <a:solidFill>
                  <a:srgbClr val="5583D1"/>
                </a:solidFill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indent="-457200"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Modules to cover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CD5B67-3503-60B5-8469-F3C3191D84D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184F65A7-CCBB-9133-6825-037454564216}"/>
              </a:ext>
            </a:extLst>
          </p:cNvPr>
          <p:cNvSpPr txBox="1"/>
          <p:nvPr/>
        </p:nvSpPr>
        <p:spPr>
          <a:xfrm>
            <a:off x="4929353" y="57036"/>
            <a:ext cx="72626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Real-Time AI-Driven Road Accident Detection and Emergency Alert System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7364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940395"/>
          </a:xfrm>
        </p:spPr>
        <p:txBody>
          <a:bodyPr/>
          <a:lstStyle/>
          <a:p>
            <a:r>
              <a:rPr lang="en-US" sz="2400" b="0" dirty="0">
                <a:solidFill>
                  <a:srgbClr val="242424"/>
                </a:solidFill>
                <a:latin typeface="+mn-lt"/>
              </a:rPr>
              <a:t>Source Datasets: </a:t>
            </a:r>
          </a:p>
          <a:p>
            <a:pPr lvl="1"/>
            <a:r>
              <a:rPr lang="en-US" sz="2000" b="0" dirty="0">
                <a:solidFill>
                  <a:srgbClr val="242424"/>
                </a:solidFill>
                <a:latin typeface="+mn-lt"/>
              </a:rPr>
              <a:t>Gathered multi-format video sources from CADP, TU-DAT, and additional relevant accident datasets.</a:t>
            </a:r>
          </a:p>
          <a:p>
            <a:r>
              <a:rPr lang="en-US" sz="2400" b="0" dirty="0">
                <a:solidFill>
                  <a:srgbClr val="242424"/>
                </a:solidFill>
                <a:latin typeface="+mn-lt"/>
              </a:rPr>
              <a:t>Clip Extraction &amp; Standardization:</a:t>
            </a:r>
          </a:p>
          <a:p>
            <a:pPr lvl="1"/>
            <a:r>
              <a:rPr lang="en-US" sz="2000" b="0" dirty="0">
                <a:solidFill>
                  <a:srgbClr val="242424"/>
                </a:solidFill>
                <a:latin typeface="+mn-lt"/>
              </a:rPr>
              <a:t> Manually created system-compatible clips (2–8 seconds) focusing on accident events</a:t>
            </a:r>
          </a:p>
          <a:p>
            <a:pPr marL="457200" lvl="1" indent="0">
              <a:buNone/>
            </a:pPr>
            <a:r>
              <a:rPr lang="en-US" sz="2000" dirty="0">
                <a:solidFill>
                  <a:srgbClr val="242424"/>
                </a:solidFill>
              </a:rPr>
              <a:t>(around 500+ clips)</a:t>
            </a:r>
            <a:r>
              <a:rPr lang="en-US" sz="2000" b="0" dirty="0">
                <a:solidFill>
                  <a:srgbClr val="242424"/>
                </a:solidFill>
                <a:latin typeface="+mn-lt"/>
              </a:rPr>
              <a:t>. </a:t>
            </a:r>
          </a:p>
          <a:p>
            <a:r>
              <a:rPr lang="en-US" sz="2400" b="0" dirty="0">
                <a:solidFill>
                  <a:srgbClr val="242424"/>
                </a:solidFill>
                <a:latin typeface="+mn-lt"/>
              </a:rPr>
              <a:t>Semi-Supervised Hybrid Annotation: </a:t>
            </a:r>
          </a:p>
          <a:p>
            <a:pPr lvl="1"/>
            <a:r>
              <a:rPr lang="en-US" sz="2000" b="0" dirty="0">
                <a:solidFill>
                  <a:srgbClr val="242424"/>
                </a:solidFill>
                <a:latin typeface="+mn-lt"/>
              </a:rPr>
              <a:t>Object Detection: Used YOLO for detecting vehicles and pedestrians.</a:t>
            </a:r>
          </a:p>
          <a:p>
            <a:pPr lvl="1"/>
            <a:r>
              <a:rPr lang="en-US" sz="2000" b="0" dirty="0">
                <a:solidFill>
                  <a:srgbClr val="242424"/>
                </a:solidFill>
                <a:latin typeface="+mn-lt"/>
              </a:rPr>
              <a:t>Multi-Object Tracking: Employed </a:t>
            </a:r>
            <a:r>
              <a:rPr lang="en-US" sz="2000" b="0" dirty="0" err="1">
                <a:solidFill>
                  <a:srgbClr val="242424"/>
                </a:solidFill>
                <a:latin typeface="+mn-lt"/>
              </a:rPr>
              <a:t>DeepSORT</a:t>
            </a:r>
            <a:r>
              <a:rPr lang="en-US" sz="2000" b="0" dirty="0">
                <a:solidFill>
                  <a:srgbClr val="242424"/>
                </a:solidFill>
                <a:latin typeface="+mn-lt"/>
              </a:rPr>
              <a:t> (robust identity retention via appearance features) and </a:t>
            </a:r>
            <a:r>
              <a:rPr lang="en-US" sz="2000" b="0" dirty="0" err="1">
                <a:solidFill>
                  <a:srgbClr val="242424"/>
                </a:solidFill>
                <a:latin typeface="+mn-lt"/>
              </a:rPr>
              <a:t>ByteTrack</a:t>
            </a:r>
            <a:r>
              <a:rPr lang="en-US" sz="2000" b="0" dirty="0">
                <a:solidFill>
                  <a:srgbClr val="242424"/>
                </a:solidFill>
                <a:latin typeface="+mn-lt"/>
              </a:rPr>
              <a:t> (efficient, keeps low-confidence detections to improve tracking) </a:t>
            </a:r>
          </a:p>
          <a:p>
            <a:r>
              <a:rPr lang="en-US" sz="2400" b="0" dirty="0">
                <a:solidFill>
                  <a:srgbClr val="242424"/>
                </a:solidFill>
                <a:latin typeface="+mn-lt"/>
              </a:rPr>
              <a:t>Accident Window &amp; Severity Labeling: </a:t>
            </a:r>
          </a:p>
          <a:p>
            <a:pPr lvl="1"/>
            <a:r>
              <a:rPr lang="en-US" sz="2000" b="0" dirty="0">
                <a:solidFill>
                  <a:srgbClr val="242424"/>
                </a:solidFill>
                <a:latin typeface="+mn-lt"/>
              </a:rPr>
              <a:t>Manually annotated accident segments.</a:t>
            </a:r>
          </a:p>
          <a:p>
            <a:pPr lvl="1"/>
            <a:r>
              <a:rPr lang="en-US" sz="2000" b="0" dirty="0">
                <a:solidFill>
                  <a:srgbClr val="242424"/>
                </a:solidFill>
                <a:latin typeface="+mn-lt"/>
              </a:rPr>
              <a:t>Assigned severity labels: Low / Medium / High based on visual impact cues.</a:t>
            </a:r>
            <a:endParaRPr lang="en-US" dirty="0">
              <a:solidFill>
                <a:srgbClr val="1C3898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Module 1: Data Collection &amp; Preprocessing</a:t>
            </a:r>
          </a:p>
          <a:p>
            <a:pPr lvl="0"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3628C04-3D38-6ED1-449A-43B8A11D7EDD}"/>
              </a:ext>
            </a:extLst>
          </p:cNvPr>
          <p:cNvSpPr txBox="1"/>
          <p:nvPr/>
        </p:nvSpPr>
        <p:spPr>
          <a:xfrm>
            <a:off x="4929353" y="57036"/>
            <a:ext cx="72626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Real-Time AI-Driven Road Accident Detection and Emergency Alert System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51C68E-1DC4-1A74-8943-1E88539C7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201163E-5159-AA54-3F78-440A87BDC7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940395"/>
          </a:xfrm>
        </p:spPr>
        <p:txBody>
          <a:bodyPr/>
          <a:lstStyle/>
          <a:p>
            <a:r>
              <a:rPr lang="en-US" dirty="0">
                <a:solidFill>
                  <a:srgbClr val="1C3898"/>
                </a:solidFill>
              </a:rPr>
              <a:t>Dataset Sample:</a:t>
            </a:r>
          </a:p>
          <a:p>
            <a:endParaRPr lang="en-US" dirty="0">
              <a:solidFill>
                <a:srgbClr val="1C3898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786EFB-3451-CC0F-8649-31A2EBE9B2F0}"/>
              </a:ext>
            </a:extLst>
          </p:cNvPr>
          <p:cNvSpPr txBox="1"/>
          <p:nvPr/>
        </p:nvSpPr>
        <p:spPr>
          <a:xfrm>
            <a:off x="255996" y="502545"/>
            <a:ext cx="106243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Module 1: Data Collection &amp; Preprocessing</a:t>
            </a:r>
          </a:p>
          <a:p>
            <a:pPr lvl="0"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4DABBFB-65A2-0056-8636-6F4B5EF78701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8B02C2EB-8B52-7486-2C62-4DD89118C016}"/>
              </a:ext>
            </a:extLst>
          </p:cNvPr>
          <p:cNvSpPr txBox="1"/>
          <p:nvPr/>
        </p:nvSpPr>
        <p:spPr>
          <a:xfrm>
            <a:off x="4929353" y="57036"/>
            <a:ext cx="72626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b="1" dirty="0">
                <a:solidFill>
                  <a:prstClr val="white"/>
                </a:solidFill>
                <a:cs typeface="Calibri" panose="020F0502020204030204" pitchFamily="34" charset="0"/>
              </a:rPr>
              <a:t>Real-Time AI-Driven Road Accident Detection and Emergency Alert System</a:t>
            </a:r>
          </a:p>
          <a:p>
            <a:pPr algn="r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840BDC1-A69B-D059-2A33-0BB711CEE1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996" y="1759609"/>
            <a:ext cx="6504855" cy="3469808"/>
          </a:xfrm>
          <a:prstGeom prst="rect">
            <a:avLst/>
          </a:prstGeom>
        </p:spPr>
      </p:pic>
      <p:pic>
        <p:nvPicPr>
          <p:cNvPr id="7" name="0IPAgFHyRVI">
            <a:hlinkClick r:id="" action="ppaction://media"/>
            <a:extLst>
              <a:ext uri="{FF2B5EF4-FFF2-40B4-BE49-F238E27FC236}">
                <a16:creationId xmlns:a16="http://schemas.microsoft.com/office/drawing/2014/main" id="{490C2A54-C6C1-3E9F-3A87-641DA16A49A6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7226891" y="1880968"/>
            <a:ext cx="4250734" cy="289822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077090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12538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15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0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305</TotalTime>
  <Words>866</Words>
  <Application>Microsoft Office PowerPoint</Application>
  <PresentationFormat>Widescreen</PresentationFormat>
  <Paragraphs>95</Paragraphs>
  <Slides>11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(Body)</vt:lpstr>
      <vt:lpstr>Calibri Light</vt:lpstr>
      <vt:lpstr>Frutiger 45 bold</vt:lpstr>
      <vt:lpstr>Frutiger LT Pro 45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Vishrut Patel</cp:lastModifiedBy>
  <cp:revision>12</cp:revision>
  <dcterms:created xsi:type="dcterms:W3CDTF">2024-05-13T10:33:11Z</dcterms:created>
  <dcterms:modified xsi:type="dcterms:W3CDTF">2025-09-10T13:24:06Z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