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501" r:id="rId6"/>
    <p:sldId id="2147470498" r:id="rId7"/>
    <p:sldId id="2147470505" r:id="rId8"/>
    <p:sldId id="2147470497" r:id="rId9"/>
    <p:sldId id="2147470504" r:id="rId10"/>
    <p:sldId id="2147470506" r:id="rId11"/>
    <p:sldId id="2147470508" r:id="rId12"/>
    <p:sldId id="2147470507" r:id="rId13"/>
    <p:sldId id="2147470499" r:id="rId14"/>
    <p:sldId id="2147470502" r:id="rId15"/>
    <p:sldId id="2147470503" r:id="rId16"/>
    <p:sldId id="2147470509" r:id="rId1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1424-8220/25/11/3259" TargetMode="External"/><Relationship Id="rId2" Type="http://schemas.openxmlformats.org/officeDocument/2006/relationships/hyperlink" Target="https://www.researchgate.net/publication/331103559_CADP_A_Novel_Dataset_for_CCTV_Traffic_Camera_based_Accident_Analysis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arxiv.org/pdf/2206.14651" TargetMode="External"/><Relationship Id="rId5" Type="http://schemas.openxmlformats.org/officeDocument/2006/relationships/hyperlink" Target="https://arxiv.org/pdf/2405.14458" TargetMode="External"/><Relationship Id="rId4" Type="http://schemas.openxmlformats.org/officeDocument/2006/relationships/hyperlink" Target="https://arxiv.org/abs/2407.17757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lvl="0" algn="ctr"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Real-Time AI-Driven Road Accident Detection and Emergency Alert System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Patel </a:t>
            </a:r>
            <a:r>
              <a:rPr lang="en-US" sz="2400" b="1" dirty="0" err="1">
                <a:solidFill>
                  <a:prstClr val="white"/>
                </a:solidFill>
                <a:cs typeface="Calibri" panose="020F0502020204030204" pitchFamily="34" charset="0"/>
              </a:rPr>
              <a:t>Vishrutkumar</a:t>
            </a: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 Dineshbhai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T-ID No: T8544</a:t>
            </a: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r>
              <a:rPr lang="en-US" b="0" dirty="0"/>
              <a:t>Manual monitoring of CCTV for road accidents is slow and inefficient.</a:t>
            </a:r>
          </a:p>
          <a:p>
            <a:r>
              <a:rPr lang="en-US" b="0" dirty="0"/>
              <a:t>Delayed emergency response is a critical factor in accident outcomes.</a:t>
            </a:r>
          </a:p>
          <a:p>
            <a:r>
              <a:rPr lang="en-US" b="0" dirty="0"/>
              <a:t>This project presents a fully automated, AI-powered system to solve this problem.</a:t>
            </a:r>
          </a:p>
          <a:p>
            <a:r>
              <a:rPr lang="en-US" b="0" dirty="0"/>
              <a:t>It analyzes live video to instantly detect accidents, classify their severity, and trigger real-time alerts.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Introduction…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Real-Time AI-Driven Road Accident Detection and Emergency Alert System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r>
              <a:rPr lang="en-US" dirty="0"/>
              <a:t>Detect</a:t>
            </a:r>
            <a:r>
              <a:rPr lang="en-US" b="0" dirty="0"/>
              <a:t> accidents in real-time from live video feeds.</a:t>
            </a:r>
          </a:p>
          <a:p>
            <a:r>
              <a:rPr lang="en-US" dirty="0"/>
              <a:t>Classify</a:t>
            </a:r>
            <a:r>
              <a:rPr lang="en-US" b="0" dirty="0"/>
              <a:t> accident severity into </a:t>
            </a:r>
            <a:r>
              <a:rPr lang="en-US" dirty="0"/>
              <a:t>Low, Medium, or High</a:t>
            </a:r>
            <a:r>
              <a:rPr lang="en-US" b="0" dirty="0"/>
              <a:t>.</a:t>
            </a:r>
          </a:p>
          <a:p>
            <a:r>
              <a:rPr lang="en-US" dirty="0"/>
              <a:t>Build</a:t>
            </a:r>
            <a:r>
              <a:rPr lang="en-US" b="0" dirty="0"/>
              <a:t> a complete end-to-end system, from video input to a web dashboard.</a:t>
            </a:r>
          </a:p>
          <a:p>
            <a:r>
              <a:rPr lang="en-US" dirty="0"/>
              <a:t>Implement</a:t>
            </a:r>
            <a:r>
              <a:rPr lang="en-US" b="0" dirty="0"/>
              <a:t> a real-time alerting workflow using WebSockets and SMS (Twilio)/Email.</a:t>
            </a:r>
          </a:p>
          <a:p>
            <a:r>
              <a:rPr lang="en-US" dirty="0"/>
              <a:t>Create</a:t>
            </a:r>
            <a:r>
              <a:rPr lang="en-US" b="0" dirty="0"/>
              <a:t> a "human-in-the-loop" supervisor dashboard to verify and manage alerts.</a:t>
            </a:r>
          </a:p>
          <a:p>
            <a:pPr marL="0" indent="0">
              <a:buNone/>
            </a:pPr>
            <a:br>
              <a:rPr lang="en-US" sz="2400" dirty="0"/>
            </a:br>
            <a:br>
              <a:rPr lang="en-US" sz="2400" dirty="0"/>
            </a:b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Real-Time AI-Driven Road Accident Detection and Emergency Alert System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r>
              <a:rPr lang="en-US" b="0" dirty="0"/>
              <a:t>Manual monitoring of traffic cameras is not scalable and leads to slow detection times.</a:t>
            </a:r>
          </a:p>
          <a:p>
            <a:r>
              <a:rPr lang="en-US" b="0" dirty="0"/>
              <a:t>This latency delays medical and emergency response.</a:t>
            </a:r>
          </a:p>
          <a:p>
            <a:r>
              <a:rPr lang="en-US" b="0" dirty="0"/>
              <a:t>First responders often lack initial information on the severity of an incident.</a:t>
            </a:r>
          </a:p>
          <a:p>
            <a:r>
              <a:rPr lang="en-US" dirty="0"/>
              <a:t>Solution:</a:t>
            </a:r>
            <a:r>
              <a:rPr lang="en-US" b="0" dirty="0"/>
              <a:t> An automated system that provides </a:t>
            </a:r>
            <a:r>
              <a:rPr lang="en-US" dirty="0"/>
              <a:t>instant detection</a:t>
            </a:r>
            <a:r>
              <a:rPr lang="en-US" b="0" dirty="0"/>
              <a:t> and </a:t>
            </a:r>
            <a:r>
              <a:rPr lang="en-US" dirty="0"/>
              <a:t>immediate severity assessment</a:t>
            </a:r>
            <a:r>
              <a:rPr lang="en-US" b="0" dirty="0"/>
              <a:t> to enable a faster, more informed response.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Real-Time AI-Driven Road Accident Detection and Emergency Alert System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315518" cy="4142989"/>
          </a:xfrm>
        </p:spPr>
        <p:txBody>
          <a:bodyPr/>
          <a:lstStyle/>
          <a:p>
            <a:r>
              <a:rPr lang="en-US" dirty="0"/>
              <a:t>Data Collection:</a:t>
            </a:r>
            <a:r>
              <a:rPr lang="en-US" b="0" dirty="0"/>
              <a:t> Labeled 607 accident videos for frame ranges and severity.</a:t>
            </a:r>
          </a:p>
          <a:p>
            <a:r>
              <a:rPr lang="en-US" dirty="0"/>
              <a:t>Feature Extraction:</a:t>
            </a:r>
            <a:r>
              <a:rPr lang="en-US" b="0" dirty="0"/>
              <a:t> Used </a:t>
            </a:r>
            <a:r>
              <a:rPr lang="en-US" dirty="0"/>
              <a:t>YOLOv10m</a:t>
            </a:r>
            <a:r>
              <a:rPr lang="en-US" b="0" dirty="0"/>
              <a:t> and </a:t>
            </a:r>
            <a:r>
              <a:rPr lang="en-US" dirty="0"/>
              <a:t>BoTSORT</a:t>
            </a:r>
            <a:r>
              <a:rPr lang="en-US" b="0" dirty="0"/>
              <a:t> to extract vehicle tracks.</a:t>
            </a:r>
          </a:p>
          <a:p>
            <a:r>
              <a:rPr lang="en-US" dirty="0"/>
              <a:t>Feature Calculation:</a:t>
            </a:r>
            <a:r>
              <a:rPr lang="en-US" b="0" dirty="0"/>
              <a:t> Programmatically generated multimodal features (IOU, deceleration, etc.).</a:t>
            </a:r>
          </a:p>
          <a:p>
            <a:r>
              <a:rPr lang="en-US" dirty="0"/>
              <a:t>Model Training:</a:t>
            </a:r>
            <a:r>
              <a:rPr lang="en-US" b="0" dirty="0"/>
              <a:t> Trained a </a:t>
            </a:r>
            <a:r>
              <a:rPr lang="en-US" dirty="0"/>
              <a:t>Multimodal Vision Transformer (ViT) with GRUs</a:t>
            </a:r>
            <a:r>
              <a:rPr lang="en-US" b="0" dirty="0"/>
              <a:t>.</a:t>
            </a:r>
          </a:p>
          <a:p>
            <a:r>
              <a:rPr lang="en-US" dirty="0"/>
              <a:t>System Integration:</a:t>
            </a:r>
            <a:r>
              <a:rPr lang="en-US" b="0" dirty="0"/>
              <a:t> Built a full-stack application (Flask, SQLite, Streamlit).</a:t>
            </a:r>
          </a:p>
          <a:p>
            <a:r>
              <a:rPr lang="en-US" dirty="0"/>
              <a:t>Live Deployment:</a:t>
            </a:r>
            <a:r>
              <a:rPr lang="en-US" b="0" dirty="0"/>
              <a:t> Deployed the full pipeline locally to analyze a webcam feed in real-time.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Real-Time AI-Driven Road Accident Detection and Emergency Alert System</a:t>
            </a:r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r>
              <a:rPr lang="en-US" dirty="0"/>
              <a:t>AI Algorithms:</a:t>
            </a:r>
            <a:endParaRPr lang="en-US" b="0" dirty="0"/>
          </a:p>
          <a:p>
            <a:pPr lvl="1"/>
            <a:r>
              <a:rPr lang="en-US" b="1" dirty="0"/>
              <a:t>Vision Transformer (</a:t>
            </a:r>
            <a:r>
              <a:rPr lang="en-US" b="1" dirty="0" err="1"/>
              <a:t>ViT</a:t>
            </a:r>
            <a:r>
              <a:rPr lang="en-US" b="1" dirty="0"/>
              <a:t>):</a:t>
            </a:r>
            <a:r>
              <a:rPr lang="en-US" dirty="0"/>
              <a:t> For visual feature extraction from frames.</a:t>
            </a:r>
          </a:p>
          <a:p>
            <a:pPr lvl="1"/>
            <a:r>
              <a:rPr lang="en-US" b="1" dirty="0"/>
              <a:t>Gated Recurrent Units (GRU):</a:t>
            </a:r>
            <a:r>
              <a:rPr lang="en-US" dirty="0"/>
              <a:t> For understanding temporal motion patterns.</a:t>
            </a:r>
          </a:p>
          <a:p>
            <a:pPr lvl="1"/>
            <a:r>
              <a:rPr lang="en-US" b="1" dirty="0"/>
              <a:t>YOLOv10m &amp; </a:t>
            </a:r>
            <a:r>
              <a:rPr lang="en-US" b="1" dirty="0" err="1"/>
              <a:t>BoTSORT</a:t>
            </a:r>
            <a:r>
              <a:rPr lang="en-US" b="1" dirty="0"/>
              <a:t>:</a:t>
            </a:r>
            <a:r>
              <a:rPr lang="en-US" dirty="0"/>
              <a:t> For state-of-the-art object detection and tracking.</a:t>
            </a:r>
          </a:p>
          <a:p>
            <a:r>
              <a:rPr lang="en-US" dirty="0"/>
              <a:t>Core Technologies:</a:t>
            </a:r>
            <a:endParaRPr lang="en-US" b="0" dirty="0"/>
          </a:p>
          <a:p>
            <a:pPr lvl="1"/>
            <a:r>
              <a:rPr lang="en-US" b="1" dirty="0"/>
              <a:t>Python:</a:t>
            </a:r>
            <a:r>
              <a:rPr lang="en-US" dirty="0"/>
              <a:t> Primary programming language.</a:t>
            </a:r>
          </a:p>
          <a:p>
            <a:pPr lvl="1"/>
            <a:r>
              <a:rPr lang="en-US" b="1" dirty="0" err="1"/>
              <a:t>PyTorch</a:t>
            </a:r>
            <a:r>
              <a:rPr lang="en-US" b="1" dirty="0"/>
              <a:t> &amp; Timm:</a:t>
            </a:r>
            <a:r>
              <a:rPr lang="en-US" dirty="0"/>
              <a:t> Deep learning framework.</a:t>
            </a:r>
          </a:p>
          <a:p>
            <a:pPr lvl="1"/>
            <a:r>
              <a:rPr lang="en-US" b="1" dirty="0"/>
              <a:t>Flask &amp; Socket.IO:</a:t>
            </a:r>
            <a:r>
              <a:rPr lang="en-US" dirty="0"/>
              <a:t> Backend API and real-time server.</a:t>
            </a:r>
          </a:p>
          <a:p>
            <a:pPr lvl="1"/>
            <a:r>
              <a:rPr lang="en-US" b="1" dirty="0" err="1"/>
              <a:t>Streamlit</a:t>
            </a:r>
            <a:r>
              <a:rPr lang="en-US" b="1" dirty="0"/>
              <a:t>:</a:t>
            </a:r>
            <a:r>
              <a:rPr lang="en-US" dirty="0"/>
              <a:t> Interactive web dashboard.</a:t>
            </a:r>
          </a:p>
          <a:p>
            <a:pPr lvl="1"/>
            <a:r>
              <a:rPr lang="en-US" b="1" dirty="0"/>
              <a:t>SQLite:</a:t>
            </a:r>
            <a:r>
              <a:rPr lang="en-US" dirty="0"/>
              <a:t> Local relational database.</a:t>
            </a:r>
          </a:p>
          <a:p>
            <a:pPr lvl="1"/>
            <a:r>
              <a:rPr lang="en-US" b="1" dirty="0"/>
              <a:t>Twilio API:</a:t>
            </a:r>
            <a:r>
              <a:rPr lang="en-US" dirty="0"/>
              <a:t> SMS notification service.</a:t>
            </a:r>
          </a:p>
          <a:p>
            <a:pPr lvl="1"/>
            <a:r>
              <a:rPr lang="en-US" b="1" dirty="0"/>
              <a:t>Gmail SMTP: </a:t>
            </a:r>
            <a:r>
              <a:rPr lang="en-US" dirty="0"/>
              <a:t>Email notification service.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Real-Time AI-Driven Road Accident Detection and Emergency Alert System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AD02D-CB5D-0FDF-E4F3-CDA45B7E4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3ABD79-6296-E459-BB9B-BBF05613E98D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System Architecture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CA30262-DB19-28CF-48D8-008565CB7EA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29E6635-6163-56C5-17C0-CFE332D8A83E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Real-Time AI-Driven Road Accident Detection and Emergency Alert System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7C173C54-A291-E628-1EAB-D54805B74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6638" y="1148876"/>
            <a:ext cx="8514509" cy="5129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78184F-4DF8-8564-AA68-17060EAFF072}"/>
              </a:ext>
            </a:extLst>
          </p:cNvPr>
          <p:cNvSpPr txBox="1"/>
          <p:nvPr/>
        </p:nvSpPr>
        <p:spPr>
          <a:xfrm>
            <a:off x="5061237" y="6170789"/>
            <a:ext cx="3046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[System Architecture Diagram]</a:t>
            </a:r>
          </a:p>
        </p:txBody>
      </p:sp>
    </p:spTree>
    <p:extLst>
      <p:ext uri="{BB962C8B-B14F-4D97-AF65-F5344CB8AC3E}">
        <p14:creationId xmlns:p14="http://schemas.microsoft.com/office/powerpoint/2010/main" val="2131104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576775" cy="4142989"/>
          </a:xfrm>
        </p:spPr>
        <p:txBody>
          <a:bodyPr/>
          <a:lstStyle/>
          <a:p>
            <a:r>
              <a:rPr lang="en-US" dirty="0"/>
              <a:t>Quantitative Results:</a:t>
            </a:r>
            <a:endParaRPr lang="en-US" b="0" dirty="0"/>
          </a:p>
          <a:p>
            <a:pPr lvl="1"/>
            <a:r>
              <a:rPr lang="en-US" dirty="0"/>
              <a:t>Achieved </a:t>
            </a:r>
            <a:r>
              <a:rPr lang="en-US" b="1" dirty="0"/>
              <a:t>89% accuracy</a:t>
            </a:r>
            <a:r>
              <a:rPr lang="en-US" dirty="0"/>
              <a:t> on the validation dataset.</a:t>
            </a:r>
          </a:p>
          <a:p>
            <a:pPr lvl="1"/>
            <a:r>
              <a:rPr lang="en-US" dirty="0"/>
              <a:t>High performance on High and Medium severity classes (F1-score: 0.90).</a:t>
            </a:r>
          </a:p>
          <a:p>
            <a:pPr lvl="1"/>
            <a:r>
              <a:rPr lang="en-US" dirty="0"/>
              <a:t>Identified Low severity as the most challenging class, as expected.</a:t>
            </a: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Real-Time AI-Driven Road Accident Detection and Emergency Alert System</a:t>
            </a:r>
          </a:p>
        </p:txBody>
      </p:sp>
      <p:pic>
        <p:nvPicPr>
          <p:cNvPr id="7" name="Picture 6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29840B17-422A-9276-6A99-90E630EB3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0097" y="2958812"/>
            <a:ext cx="4305697" cy="32199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CA30015-5ADB-34A1-630A-440B95D8326A}"/>
              </a:ext>
            </a:extLst>
          </p:cNvPr>
          <p:cNvSpPr txBox="1"/>
          <p:nvPr/>
        </p:nvSpPr>
        <p:spPr>
          <a:xfrm>
            <a:off x="2755949" y="5994139"/>
            <a:ext cx="2236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[Classification Report]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29935E-C66B-7FC1-9FFB-3CD171C39B47}"/>
              </a:ext>
            </a:extLst>
          </p:cNvPr>
          <p:cNvSpPr txBox="1"/>
          <p:nvPr/>
        </p:nvSpPr>
        <p:spPr>
          <a:xfrm>
            <a:off x="8024722" y="6011630"/>
            <a:ext cx="1938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[Confusion Matrix]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50858B2-B3E0-9020-2AA7-EFFDA592E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093" y="3603171"/>
            <a:ext cx="4150158" cy="237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3F572-1D28-60F6-EF9F-0C60394E1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FB160A7-82E0-57B0-EAF8-C99F7C3750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576775" cy="4142989"/>
          </a:xfrm>
        </p:spPr>
        <p:txBody>
          <a:bodyPr/>
          <a:lstStyle/>
          <a:p>
            <a:r>
              <a:rPr lang="en-US" dirty="0"/>
              <a:t>System Performance:</a:t>
            </a:r>
            <a:endParaRPr lang="en-US" b="0" dirty="0"/>
          </a:p>
          <a:p>
            <a:pPr lvl="1"/>
            <a:r>
              <a:rPr lang="en-US" dirty="0"/>
              <a:t>The live system successfully detects simulated accidents with high confidence.</a:t>
            </a:r>
          </a:p>
          <a:p>
            <a:pPr lvl="1"/>
            <a:r>
              <a:rPr lang="en-US" dirty="0"/>
              <a:t>The dashboard is fast and responsive due to caching and soft-refresh logic.</a:t>
            </a:r>
          </a:p>
          <a:p>
            <a:r>
              <a:rPr lang="en-US" dirty="0"/>
              <a:t>Key Finding (Domain Shift):</a:t>
            </a:r>
            <a:endParaRPr lang="en-US" b="0" dirty="0"/>
          </a:p>
          <a:p>
            <a:pPr lvl="1"/>
            <a:r>
              <a:rPr lang="en-US" dirty="0"/>
              <a:t>Observed false positives on out-of-domain data (e.g., a human face).</a:t>
            </a:r>
          </a:p>
          <a:p>
            <a:pPr lvl="1"/>
            <a:r>
              <a:rPr lang="en-US" dirty="0"/>
              <a:t>This result proves the critical importance of a "human-in-the-loop" to verify alerts, which has been successfully implemented in our system design.</a:t>
            </a:r>
            <a:br>
              <a:rPr lang="en-US" dirty="0"/>
            </a:br>
            <a:br>
              <a:rPr lang="en-US" dirty="0"/>
            </a:b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1CAE11-12D7-CD53-C6FA-D8E867D2E6D7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8D05F1E-C09F-DAA0-1D70-35B33A99809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2E595B8-7A61-B26C-4E59-030E954C1B1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Real-Time AI-Driven Road Accident Detection and Emergency Alert System</a:t>
            </a:r>
          </a:p>
        </p:txBody>
      </p:sp>
    </p:spTree>
    <p:extLst>
      <p:ext uri="{BB962C8B-B14F-4D97-AF65-F5344CB8AC3E}">
        <p14:creationId xmlns:p14="http://schemas.microsoft.com/office/powerpoint/2010/main" val="782949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2DD04-7611-6360-48D8-08F321530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3337E8-D608-4F46-0FBA-5EF3382F2F23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Demo (Terminal Output)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F3C8FC5-F8F8-A333-5F88-B2DBFE5E0B9D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B4482B0-B3D6-4308-C0FB-98D12DD3BCE2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Real-Time AI-Driven Road Accident Detection and Emergency Alert System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736951-F242-628F-A981-4BE55A0F7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734" y="1658005"/>
            <a:ext cx="8312318" cy="4675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371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63659-EFBE-C7D3-5AFE-4003B8D3A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C2FDDD-C447-C6CB-3463-4E03F6650C9E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Demo (UI)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F91210C-8C5E-A5EF-97DB-D10A6B41AD0A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171B98D-002B-A2EF-E810-FB204DF639C5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Real-Time AI-Driven Road Accident Detection and Emergency Alert System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10F22B-0917-92E4-BD52-CB217C07B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734" y="1594385"/>
            <a:ext cx="8312318" cy="467567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1314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E263B-BC45-8690-7BD7-55187BE1A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5F3F5-B517-0535-35D2-E24E7097E845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Demo (UI)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E88C5E5-5887-876F-E856-769FEBC29DFC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314DF7A-6628-9687-9750-DB843B0858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Real-Time AI-Driven Road Accident Detection and Emergency Alert System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6A599D-C457-254C-05E3-73ECF0A9C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733" y="1517523"/>
            <a:ext cx="8312320" cy="46756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09818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816261" cy="4142989"/>
          </a:xfrm>
        </p:spPr>
        <p:txBody>
          <a:bodyPr/>
          <a:lstStyle/>
          <a:p>
            <a:r>
              <a:rPr lang="en-US" b="0" dirty="0"/>
              <a:t>Successfully built and demonstrated a complete, end-to-end system for real-time accident detection and severity classification.</a:t>
            </a:r>
          </a:p>
          <a:p>
            <a:r>
              <a:rPr lang="en-US" b="0" dirty="0"/>
              <a:t>The system achieves high accuracy and integrates a professional, real-time alerting workflow with a human-in-the-loop for verification.</a:t>
            </a:r>
          </a:p>
          <a:p>
            <a:endParaRPr lang="en-US" b="0" dirty="0"/>
          </a:p>
          <a:p>
            <a:r>
              <a:rPr lang="en-US" dirty="0"/>
              <a:t>Future Work:</a:t>
            </a:r>
            <a:endParaRPr lang="en-US" b="0" dirty="0"/>
          </a:p>
          <a:p>
            <a:r>
              <a:rPr lang="en-US" dirty="0"/>
              <a:t>Expand Training Data:</a:t>
            </a:r>
            <a:r>
              <a:rPr lang="en-US" b="0" dirty="0"/>
              <a:t> Add more "low" severity and "hard negative" examples.</a:t>
            </a:r>
          </a:p>
          <a:p>
            <a:r>
              <a:rPr lang="en-US" dirty="0"/>
              <a:t>Cloud Deployment:</a:t>
            </a:r>
            <a:r>
              <a:rPr lang="en-US" b="0" dirty="0"/>
              <a:t> Containerize the services with Docker for deployment on platforms like AWS/Azure.</a:t>
            </a:r>
          </a:p>
          <a:p>
            <a:r>
              <a:rPr lang="en-US" dirty="0"/>
              <a:t>Accident Hotspot Analysis and Reporting</a:t>
            </a:r>
            <a:br>
              <a:rPr lang="en-US" sz="2400" dirty="0"/>
            </a:br>
            <a:br>
              <a:rPr lang="en-US" sz="2400" dirty="0"/>
            </a:b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Conclusion…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Real-Time AI-Driven Road Accident Detection and Emergency Alert System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r>
              <a:rPr lang="en-US" b="0" dirty="0"/>
              <a:t>I would like to express our sincere gratitude to our project mentors, Hari sir and J. K. sir for their invaluable guidance and support.</a:t>
            </a:r>
          </a:p>
          <a:p>
            <a:r>
              <a:rPr lang="en-US" b="0" dirty="0"/>
              <a:t>I also thank </a:t>
            </a:r>
            <a:r>
              <a:rPr lang="en-US" dirty="0"/>
              <a:t>LTIMindTree</a:t>
            </a:r>
            <a:r>
              <a:rPr lang="en-US" b="0" dirty="0"/>
              <a:t> and </a:t>
            </a:r>
            <a:r>
              <a:rPr lang="en-US" dirty="0"/>
              <a:t>Vellore Institute of Technology</a:t>
            </a:r>
            <a:r>
              <a:rPr lang="en-US" b="0" dirty="0"/>
              <a:t> for this opportunity.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…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Real-Time AI-Driven Road Accident Detection and Emergency Alert System</a:t>
            </a:r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718290" cy="4142989"/>
          </a:xfrm>
        </p:spPr>
        <p:txBody>
          <a:bodyPr/>
          <a:lstStyle/>
          <a:p>
            <a:pPr marL="0" lvl="0" indent="0">
              <a:lnSpc>
                <a:spcPct val="10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Calibri" panose="020F0502020204030204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 A. P. Shah, J.-B. Lamare, T. Nguyen-Anh, and A. Hauptmann, “CADP: A Novel Dataset for CCTV Traffic Camera based Accident Analysis,” in Proc. IEEE Int. Workshop on Advanced Video and Signal Based Surveillance (AVSS), 2018, pp. 1–9, doi:10.1109/AVSS.2018.8639160</a:t>
            </a:r>
            <a:endParaRPr lang="en-US" sz="2400" b="0" dirty="0">
              <a:solidFill>
                <a:srgbClr val="5583D1"/>
              </a:solidFill>
              <a:latin typeface="Calibri" panose="020F0502020204030204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Calibri" panose="020F0502020204030204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 P. Pradeep Kumar and K. Kant, “TU-DAT: A Computer Vision Dataset on Road Traffic Anomalies,” Sensors, vol. 25, no. 11, Art. 3259, 2025, doi:10.3390/s25113259 </a:t>
            </a:r>
            <a:endParaRPr lang="en-US" sz="2400" b="0" dirty="0">
              <a:solidFill>
                <a:srgbClr val="5583D1"/>
              </a:solidFill>
              <a:latin typeface="Calibri" panose="020F0502020204030204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Calibri" panose="020F0502020204030204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 H. Liao et al., “CRASH: Crash Recognition and Anticipation System Harnessing with Context-Aware and Temporal Focus Attentions,” in Proc. ACM Int. Conf. on Multimedia (MM), 2024, doi:10.1145/3664647.3680672 </a:t>
            </a:r>
            <a:endParaRPr lang="en-US" sz="2400" b="0" dirty="0">
              <a:solidFill>
                <a:srgbClr val="5583D1"/>
              </a:solidFill>
              <a:latin typeface="Calibri" panose="020F0502020204030204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en-US" sz="2400" b="0" u="sng" dirty="0">
                <a:solidFill>
                  <a:srgbClr val="5583D1"/>
                </a:solidFill>
                <a:latin typeface="Calibri" panose="020F0502020204030204"/>
                <a:hlinkClick r:id="rId5"/>
              </a:rPr>
              <a:t>[4] J. Wang et al., “YOLOv10: Real-Time End-to-End Object Detection,” </a:t>
            </a:r>
            <a:r>
              <a:rPr lang="en-US" sz="2400" b="0" u="sng" dirty="0" err="1">
                <a:solidFill>
                  <a:srgbClr val="5583D1"/>
                </a:solidFill>
                <a:latin typeface="Calibri" panose="020F0502020204030204"/>
                <a:hlinkClick r:id="rId5"/>
              </a:rPr>
              <a:t>arXiv</a:t>
            </a:r>
            <a:r>
              <a:rPr lang="en-US" sz="2400" b="0" u="sng" dirty="0">
                <a:solidFill>
                  <a:srgbClr val="5583D1"/>
                </a:solidFill>
                <a:latin typeface="Calibri" panose="020F0502020204030204"/>
                <a:hlinkClick r:id="rId5"/>
              </a:rPr>
              <a:t> preprint arXiv:2405.14458, May 2024.</a:t>
            </a:r>
            <a:endParaRPr lang="en-US" sz="2400" b="0" u="sng" dirty="0">
              <a:solidFill>
                <a:srgbClr val="5583D1"/>
              </a:solidFill>
              <a:latin typeface="Calibri" panose="020F0502020204030204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en-US" sz="2400" b="0" u="sng" dirty="0">
                <a:solidFill>
                  <a:srgbClr val="5583D1"/>
                </a:solidFill>
                <a:latin typeface="Calibri" panose="020F0502020204030204"/>
                <a:hlinkClick r:id="rId6"/>
              </a:rPr>
              <a:t>[5] N. Aharon, R. </a:t>
            </a:r>
            <a:r>
              <a:rPr lang="en-US" sz="2400" b="0" u="sng" dirty="0" err="1">
                <a:solidFill>
                  <a:srgbClr val="5583D1"/>
                </a:solidFill>
                <a:latin typeface="Calibri" panose="020F0502020204030204"/>
                <a:hlinkClick r:id="rId6"/>
              </a:rPr>
              <a:t>Orfaig</a:t>
            </a:r>
            <a:r>
              <a:rPr lang="en-US" sz="2400" b="0" u="sng" dirty="0">
                <a:solidFill>
                  <a:srgbClr val="5583D1"/>
                </a:solidFill>
                <a:latin typeface="Calibri" panose="020F0502020204030204"/>
                <a:hlinkClick r:id="rId6"/>
              </a:rPr>
              <a:t>, and B. Bobrovsky, “</a:t>
            </a:r>
            <a:r>
              <a:rPr lang="en-US" sz="2400" b="0" u="sng" dirty="0" err="1">
                <a:solidFill>
                  <a:srgbClr val="5583D1"/>
                </a:solidFill>
                <a:latin typeface="Calibri" panose="020F0502020204030204"/>
                <a:hlinkClick r:id="rId6"/>
              </a:rPr>
              <a:t>BoT</a:t>
            </a:r>
            <a:r>
              <a:rPr lang="en-US" sz="2400" b="0" u="sng" dirty="0">
                <a:solidFill>
                  <a:srgbClr val="5583D1"/>
                </a:solidFill>
                <a:latin typeface="Calibri" panose="020F0502020204030204"/>
                <a:hlinkClick r:id="rId6"/>
              </a:rPr>
              <a:t>-SORT: Robust Associations for Multi-Pedestrian Tracking,” </a:t>
            </a:r>
            <a:r>
              <a:rPr lang="en-US" sz="2400" b="0" u="sng" dirty="0" err="1">
                <a:solidFill>
                  <a:srgbClr val="5583D1"/>
                </a:solidFill>
                <a:latin typeface="Calibri" panose="020F0502020204030204"/>
                <a:hlinkClick r:id="rId6"/>
              </a:rPr>
              <a:t>arXiv</a:t>
            </a:r>
            <a:r>
              <a:rPr lang="en-US" sz="2400" b="0" u="sng" dirty="0">
                <a:solidFill>
                  <a:srgbClr val="5583D1"/>
                </a:solidFill>
                <a:latin typeface="Calibri" panose="020F0502020204030204"/>
                <a:hlinkClick r:id="rId6"/>
              </a:rPr>
              <a:t> preprint arXiv:2206.14651, Jun. 2022.</a:t>
            </a:r>
            <a:endParaRPr lang="en-US" sz="2400" b="0" u="sng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Reference…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Real-Time AI-Driven Road Accident Detection and Emergency Alert System</a:t>
            </a:r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A7C0F-9340-4E46-EE35-34088ED7A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F07C16-36E0-3266-65FB-E9400BBB2B3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Real-Time AI-Driven Road Accident Detection and Emergency Alert System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48E56B-2D40-C120-8567-538B7B9F211C}"/>
              </a:ext>
            </a:extLst>
          </p:cNvPr>
          <p:cNvSpPr txBox="1"/>
          <p:nvPr/>
        </p:nvSpPr>
        <p:spPr>
          <a:xfrm>
            <a:off x="3037729" y="2705725"/>
            <a:ext cx="611232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fr-FR" sz="8800" b="1" dirty="0" err="1">
                <a:solidFill>
                  <a:srgbClr val="5B9BD5">
                    <a:lumMod val="50000"/>
                  </a:srgbClr>
                </a:solidFill>
              </a:rPr>
              <a:t>Thank</a:t>
            </a:r>
            <a:r>
              <a:rPr lang="fr-FR" sz="8800" b="1" dirty="0">
                <a:solidFill>
                  <a:srgbClr val="5B9BD5">
                    <a:lumMod val="50000"/>
                  </a:srgbClr>
                </a:solidFill>
              </a:rPr>
              <a:t> You!</a:t>
            </a:r>
            <a:endParaRPr kumimoji="0" lang="en-US" sz="88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0098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1039</Words>
  <Application>Microsoft Office PowerPoint</Application>
  <PresentationFormat>Widescreen</PresentationFormat>
  <Paragraphs>105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(Body)</vt:lpstr>
      <vt:lpstr>Calibri Light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Patelvishrutku Dineshbhai</cp:lastModifiedBy>
  <cp:revision>17</cp:revision>
  <cp:lastPrinted>2025-10-12T19:19:35Z</cp:lastPrinted>
  <dcterms:created xsi:type="dcterms:W3CDTF">2024-05-13T10:33:11Z</dcterms:created>
  <dcterms:modified xsi:type="dcterms:W3CDTF">2025-10-14T04:53:36Z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